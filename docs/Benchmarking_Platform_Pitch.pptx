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AI Benchmarking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accelerates. Evidence governs. Consultants decide.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pitch for Mushar leadership and prospective clients  |  Riyadh, KSA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1325880"/>
            <a:ext cx="0" cy="301752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95460" y="914400"/>
            <a:ext cx="411480" cy="41148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954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&amp; Scope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0" y="2039112"/>
            <a:ext cx="0" cy="301752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95460" y="1627632"/>
            <a:ext cx="411480" cy="41148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9546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0" y="2752344"/>
            <a:ext cx="0" cy="301752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95460" y="2340864"/>
            <a:ext cx="411480" cy="41148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95460" y="2340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2386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0" y="3465576"/>
            <a:ext cx="0" cy="301752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95460" y="3054096"/>
            <a:ext cx="411480" cy="41148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9546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30998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4178808"/>
            <a:ext cx="0" cy="301752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5460" y="3767328"/>
            <a:ext cx="411480" cy="41148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9546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966960" y="3813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0" y="4892040"/>
            <a:ext cx="0" cy="301752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95460" y="4480560"/>
            <a:ext cx="411480" cy="41148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3954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96696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95460" y="5193792"/>
            <a:ext cx="411480" cy="411480"/>
          </a:xfrm>
          <a:prstGeom prst="ellipse">
            <a:avLst/>
          </a:prstGeom>
          <a:solidFill>
            <a:srgbClr val="A1124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395460" y="5193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5239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 Release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today is slow and manual, and generic AI makes it fast but untrustworthy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E7F8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benchmarking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500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Credible, but slow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852928"/>
            <a:ext cx="329184" cy="329184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346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desk research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27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search, read and copy sources by hand for every comparator and question.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767328"/>
            <a:ext cx="329184" cy="329184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49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lives in people's heads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0416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Frameworks, source rules and templates are rebuilt on each engagement.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681728"/>
            <a:ext cx="329184" cy="329184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663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is an afterthought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9560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are assembled at the end, so checking a claim means re-doing the search.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BEFF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tools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3500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but not defensible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852928"/>
            <a:ext cx="329184" cy="329184"/>
          </a:xfrm>
          <a:prstGeom prst="ellipse">
            <a:avLst/>
          </a:prstGeom>
          <a:solidFill>
            <a:srgbClr val="A112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8346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Untraceable output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127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 arrive without a verifiable source, date or page reference.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3767328"/>
            <a:ext cx="329184" cy="329184"/>
          </a:xfrm>
          <a:prstGeom prst="ellipse">
            <a:avLst/>
          </a:prstGeom>
          <a:solidFill>
            <a:srgbClr val="A1124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3749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facts and values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0416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numbers and practices are invented to fill the gaps.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4681728"/>
            <a:ext cx="329184" cy="329184"/>
          </a:xfrm>
          <a:prstGeom prst="ellipse">
            <a:avLst/>
          </a:prstGeom>
          <a:solidFill>
            <a:srgbClr val="A1124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37960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663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evidence" becomes "not implemented"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9560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public evidence is silently reported as a client or peer weakness.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risk: </a:t>
            </a:r>
            <a:pPr indent="0" marL="0">
              <a:buNone/>
            </a:pPr>
            <a:r>
              <a:rPr lang="en-US" sz="130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evidence is not evidence of absence. A client-ready benchmark must show where every statement comes from and what was not found.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IN ONE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 at every step, but nothing reaches the client without passing a human gate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E7F8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accelerates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and researches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F7F8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02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governs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95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the AI must follow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26864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D1F1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946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decide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40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revise, reject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07792" y="1938528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17520" y="1938528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the brief and scope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6338" y="2834640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07792" y="3383280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7520" y="3383280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scope; flag, never invent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06338" y="4279392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32018" y="4736592"/>
            <a:ext cx="548640" cy="548640"/>
          </a:xfrm>
          <a:prstGeom prst="diamond">
            <a:avLst/>
          </a:prstGeom>
          <a:solidFill>
            <a:srgbClr val="05607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32018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5358384"/>
            <a:ext cx="15605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Approved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51187" y="1938528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0915" y="1938528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framework and comparators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9733" y="2834640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51187" y="3383280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60915" y="3383280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Relevance, researchability, comparability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49733" y="4279392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75413" y="4736592"/>
            <a:ext cx="548640" cy="548640"/>
          </a:xfrm>
          <a:prstGeom prst="diamond">
            <a:avLst/>
          </a:prstGeom>
          <a:solidFill>
            <a:srgbClr val="05607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75413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69475" y="5358384"/>
            <a:ext cx="15605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Approved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94582" y="1938528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04310" y="1938528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Researches each comparator x question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93128" y="2834640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94582" y="3383280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04310" y="3383280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hierarchy P1-P4; evidence IDs; search log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93128" y="4279392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18808" y="4736592"/>
            <a:ext cx="548640" cy="548640"/>
          </a:xfrm>
          <a:prstGeom prst="diamond">
            <a:avLst/>
          </a:prstGeom>
          <a:solidFill>
            <a:srgbClr val="05607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18808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412870" y="5358384"/>
            <a:ext cx="15605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7977" y="1938528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47705" y="1938528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profiles and comparisons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936523" y="2834640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137977" y="3383280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47705" y="3383280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accepted evidence; comparability checks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936523" y="4279392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662203" y="4736592"/>
            <a:ext cx="548640" cy="548640"/>
          </a:xfrm>
          <a:prstGeom prst="diamond">
            <a:avLst/>
          </a:prstGeom>
          <a:solidFill>
            <a:srgbClr val="05607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662203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8156265" y="5358384"/>
            <a:ext cx="15605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Insight Approved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881372" y="1938528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991100" y="1938528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storyline, deck and references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679918" y="2834640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881372" y="3383280"/>
            <a:ext cx="1597091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991100" y="3383280"/>
            <a:ext cx="13776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facts; 11 automated QA rules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679918" y="4279392"/>
            <a:ext cx="0" cy="530352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0405598" y="4736592"/>
            <a:ext cx="548640" cy="548640"/>
          </a:xfrm>
          <a:prstGeom prst="diamond">
            <a:avLst/>
          </a:prstGeom>
          <a:solidFill>
            <a:srgbClr val="A11249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405598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9899660" y="5358384"/>
            <a:ext cx="15605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&amp; Final Approved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stages, each closed by a named human gate; a stage unlocks only when the previous one is approved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584916" cy="685800"/>
          </a:xfrm>
          <a:prstGeom prst="homePlate">
            <a:avLst/>
          </a:prstGeom>
          <a:solidFill>
            <a:srgbClr val="0B2F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12648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&amp; 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3556" y="1783080"/>
            <a:ext cx="1584916" cy="685800"/>
          </a:xfrm>
          <a:prstGeom prst="chevron">
            <a:avLst/>
          </a:prstGeom>
          <a:solidFill>
            <a:srgbClr val="0560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44452" y="1783080"/>
            <a:ext cx="1017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18473" y="1783080"/>
            <a:ext cx="1584916" cy="685800"/>
          </a:xfrm>
          <a:prstGeom prst="chevron">
            <a:avLst/>
          </a:prstGeom>
          <a:solidFill>
            <a:srgbClr val="0B2F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9369" y="1783080"/>
            <a:ext cx="1017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389" y="1783080"/>
            <a:ext cx="1584916" cy="685800"/>
          </a:xfrm>
          <a:prstGeom prst="chevron">
            <a:avLst/>
          </a:prstGeom>
          <a:solidFill>
            <a:srgbClr val="0560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14285" y="1783080"/>
            <a:ext cx="1017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88306" y="1783080"/>
            <a:ext cx="1584916" cy="685800"/>
          </a:xfrm>
          <a:prstGeom prst="chevron">
            <a:avLst/>
          </a:prstGeom>
          <a:solidFill>
            <a:srgbClr val="0B2F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99202" y="1783080"/>
            <a:ext cx="1017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73222" y="1783080"/>
            <a:ext cx="1584916" cy="685800"/>
          </a:xfrm>
          <a:prstGeom prst="chevron">
            <a:avLst/>
          </a:prstGeom>
          <a:solidFill>
            <a:srgbClr val="0560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84118" y="1783080"/>
            <a:ext cx="1017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139" y="1783080"/>
            <a:ext cx="1584916" cy="685800"/>
          </a:xfrm>
          <a:prstGeom prst="chevron">
            <a:avLst/>
          </a:prstGeom>
          <a:solidFill>
            <a:srgbClr val="A1124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69035" y="1783080"/>
            <a:ext cx="10179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" y="2697480"/>
            <a:ext cx="1475188" cy="1417320"/>
          </a:xfrm>
          <a:prstGeom prst="roundRect">
            <a:avLst>
              <a:gd name="adj" fmla="val 5161"/>
            </a:avLst>
          </a:prstGeom>
          <a:solidFill>
            <a:srgbClr val="E7F8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" y="2761488"/>
            <a:ext cx="12923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objective, context and scope; flags missing information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" y="4297680"/>
            <a:ext cx="14751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607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" y="4297680"/>
            <a:ext cx="1328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Approved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" y="5120640"/>
            <a:ext cx="1383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88420" y="2697480"/>
            <a:ext cx="1475188" cy="1417320"/>
          </a:xfrm>
          <a:prstGeom prst="roundRect">
            <a:avLst>
              <a:gd name="adj" fmla="val 5161"/>
            </a:avLst>
          </a:prstGeom>
          <a:solidFill>
            <a:srgbClr val="E7F8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279860" y="2761488"/>
            <a:ext cx="12923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dimensions, criteria, questions, comparators and evidence risks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88420" y="4297680"/>
            <a:ext cx="14751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607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61572" y="4297680"/>
            <a:ext cx="1328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Approved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234140" y="5120640"/>
            <a:ext cx="1383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73337" y="2697480"/>
            <a:ext cx="1475188" cy="1417320"/>
          </a:xfrm>
          <a:prstGeom prst="roundRect">
            <a:avLst>
              <a:gd name="adj" fmla="val 5161"/>
            </a:avLst>
          </a:prstGeom>
          <a:solidFill>
            <a:srgbClr val="E7F8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864777" y="2761488"/>
            <a:ext cx="12923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Researches every comparator x question; extracts evidence and drafts responses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73337" y="4297680"/>
            <a:ext cx="14751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607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46489" y="4297680"/>
            <a:ext cx="1328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819057" y="5120640"/>
            <a:ext cx="1383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58253" y="2697480"/>
            <a:ext cx="1475188" cy="1417320"/>
          </a:xfrm>
          <a:prstGeom prst="roundRect">
            <a:avLst>
              <a:gd name="adj" fmla="val 5161"/>
            </a:avLst>
          </a:prstGeom>
          <a:solidFill>
            <a:srgbClr val="E7F8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49693" y="2761488"/>
            <a:ext cx="12923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profiles, assessments and the comparison matrix from reviewed evidence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58253" y="4297680"/>
            <a:ext cx="14751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607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31405" y="4297680"/>
            <a:ext cx="1328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Approved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03973" y="5120640"/>
            <a:ext cx="1383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43170" y="2697480"/>
            <a:ext cx="1475188" cy="1417320"/>
          </a:xfrm>
          <a:prstGeom prst="roundRect">
            <a:avLst>
              <a:gd name="adj" fmla="val 5161"/>
            </a:avLst>
          </a:prstGeom>
          <a:solidFill>
            <a:srgbClr val="E7F8F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034610" y="2761488"/>
            <a:ext cx="12923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lessons learned, implications and recommendations, labelled by type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943170" y="4297680"/>
            <a:ext cx="14751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607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16322" y="4297680"/>
            <a:ext cx="1328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&amp; Recommendation Approved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988890" y="5120640"/>
            <a:ext cx="1383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Lead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28086" y="2697480"/>
            <a:ext cx="1475188" cy="1417320"/>
          </a:xfrm>
          <a:prstGeom prst="roundRect">
            <a:avLst>
              <a:gd name="adj" fmla="val 5161"/>
            </a:avLst>
          </a:prstGeom>
          <a:solidFill>
            <a:srgbClr val="E7F8F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619526" y="2761488"/>
            <a:ext cx="12923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storyline, slides, tables and references from approved content only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528086" y="4297680"/>
            <a:ext cx="14751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607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601238" y="4297680"/>
            <a:ext cx="1328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Approved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573806" y="5120640"/>
            <a:ext cx="1383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Lead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113003" y="2697480"/>
            <a:ext cx="1475188" cy="1417320"/>
          </a:xfrm>
          <a:prstGeom prst="roundRect">
            <a:avLst>
              <a:gd name="adj" fmla="val 5161"/>
            </a:avLst>
          </a:prstGeom>
          <a:solidFill>
            <a:srgbClr val="E7F8F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204443" y="2761488"/>
            <a:ext cx="12923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11 automated QA rules; critical issues block release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113003" y="4297680"/>
            <a:ext cx="14751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1124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186155" y="4297680"/>
            <a:ext cx="13288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Approved (Release)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10158723" y="5120640"/>
            <a:ext cx="1383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Lead + Engagement Lead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4114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control: </a:t>
            </a:r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move locked &gt; in progress &gt; submitted &gt; approved (or returned). Re-opening an approved gate re-locks every downstream stage and is logged.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traces to an evidence ID, a ranked source and an archived snapshot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hierarchy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0B2F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0116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Government, regulators, official statistics; company primary; international institutions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5230368" cy="530352"/>
          </a:xfrm>
          <a:prstGeom prst="roundRect">
            <a:avLst>
              <a:gd name="adj" fmla="val 13793"/>
            </a:avLst>
          </a:prstGeom>
          <a:solidFill>
            <a:srgbClr val="0560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615184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15184"/>
            <a:ext cx="4133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Academic, professional bodies, accessible professional research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4974336" cy="530352"/>
          </a:xfrm>
          <a:prstGeom prst="roundRect">
            <a:avLst>
              <a:gd name="adj" fmla="val 13793"/>
            </a:avLst>
          </a:prstGeom>
          <a:solidFill>
            <a:srgbClr val="8EDDD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218688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218688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business and news media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4718304" cy="530352"/>
          </a:xfrm>
          <a:prstGeom prst="roundRect">
            <a:avLst>
              <a:gd name="adj" fmla="val 13793"/>
            </a:avLst>
          </a:prstGeom>
          <a:solidFill>
            <a:srgbClr val="D1F1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82219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822192"/>
            <a:ext cx="3621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press, conferences, expert interviews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4462272" cy="530352"/>
          </a:xfrm>
          <a:prstGeom prst="roundRect">
            <a:avLst>
              <a:gd name="adj" fmla="val 13793"/>
            </a:avLst>
          </a:prstGeom>
          <a:solidFill>
            <a:srgbClr val="FBEFF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425696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425696"/>
            <a:ext cx="3364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summaries, snippets, anonymous stats, content farms, paywalled claims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KSA official sources (GASTAT, ministries, regulators, Vision 2030 documents, open-data portal) are treated as P1. Arabic sources are allowed.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1645920"/>
            <a:ext cx="5059375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0560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645920"/>
            <a:ext cx="5059375" cy="457200"/>
          </a:xfrm>
          <a:prstGeom prst="roundRect">
            <a:avLst>
              <a:gd name="adj" fmla="val 16000"/>
            </a:avLst>
          </a:prstGeom>
          <a:solidFill>
            <a:srgbClr val="05607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1645920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EV-0042   Evidence record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240280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supported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496312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statement it backs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204808" y="2240280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/ title / date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204808" y="2496312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metadata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2862072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+ page / section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118104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 to verify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204808" y="2862072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&amp; treatment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04808" y="3118104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P1-P4 or REJECT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3483864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+ accessed date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739896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archived excerpt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204808" y="3483864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status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204808" y="3739896"/>
            <a:ext cx="225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&gt; accepted / rejected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4343400"/>
            <a:ext cx="5059375" cy="1188720"/>
          </a:xfrm>
          <a:prstGeom prst="roundRect">
            <a:avLst>
              <a:gd name="adj" fmla="val 6154"/>
            </a:avLst>
          </a:prstGeom>
          <a:solidFill>
            <a:srgbClr val="F7F8E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66560" y="443484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log proves a gap is real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4736592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is logged per research task. A task can be closed as a gap only after at least three distinct queries, and the gap is disclosed as a limitation.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6588" y="56692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1F1E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86588" y="5669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slide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28036" y="5897880"/>
            <a:ext cx="374904" cy="0"/>
          </a:xfrm>
          <a:prstGeom prst="line">
            <a:avLst/>
          </a:prstGeom>
          <a:noFill/>
          <a:ln w="19050">
            <a:solidFill>
              <a:srgbClr val="05607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466948" y="56692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1F1E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466948" y="5669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content item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08396" y="5897880"/>
            <a:ext cx="374904" cy="0"/>
          </a:xfrm>
          <a:prstGeom prst="line">
            <a:avLst/>
          </a:prstGeom>
          <a:noFill/>
          <a:ln w="19050">
            <a:solidFill>
              <a:srgbClr val="05607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347308" y="56692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A1124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347308" y="5669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788756" y="5897880"/>
            <a:ext cx="374904" cy="0"/>
          </a:xfrm>
          <a:prstGeom prst="line">
            <a:avLst/>
          </a:prstGeom>
          <a:noFill/>
          <a:ln w="19050">
            <a:solidFill>
              <a:srgbClr val="05607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227668" y="56692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1F1E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227668" y="5669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source + snapshot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TAXONOMY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sentence is labelled for what it is, so facts are never confused with AI reasoning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4415" cy="0"/>
          </a:xfrm>
          <a:prstGeom prst="line">
            <a:avLst/>
          </a:prstGeom>
          <a:noFill/>
          <a:ln w="15875">
            <a:solidFill>
              <a:srgbClr val="5B6B70"/>
            </a:solidFill>
            <a:prstDash val="solid"/>
            <a:headEnd type="triangl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1536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/ disclosed limitation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734769" cy="731520"/>
          </a:xfrm>
          <a:prstGeom prst="roundRect">
            <a:avLst>
              <a:gd name="adj" fmla="val 10000"/>
            </a:avLst>
          </a:prstGeom>
          <a:solidFill>
            <a:srgbClr val="0B2F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057400"/>
            <a:ext cx="15518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734769" cy="2926080"/>
          </a:xfrm>
          <a:prstGeom prst="roundRect">
            <a:avLst>
              <a:gd name="adj" fmla="val 4217"/>
            </a:avLst>
          </a:prstGeom>
          <a:solidFill>
            <a:srgbClr val="E7F8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9900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2095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statement supported by credible evidence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9044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REQUIRED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1239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accepted source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8188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0383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strengthen wording beyond the source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0569" y="2057400"/>
            <a:ext cx="1734769" cy="731520"/>
          </a:xfrm>
          <a:prstGeom prst="roundRect">
            <a:avLst>
              <a:gd name="adj" fmla="val 10000"/>
            </a:avLst>
          </a:prstGeom>
          <a:solidFill>
            <a:srgbClr val="0560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512009" y="2057400"/>
            <a:ext cx="15518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Comparison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20569" y="2880360"/>
            <a:ext cx="1734769" cy="2926080"/>
          </a:xfrm>
          <a:prstGeom prst="roundRect">
            <a:avLst>
              <a:gd name="adj" fmla="val 4217"/>
            </a:avLst>
          </a:prstGeom>
          <a:solidFill>
            <a:srgbClr val="E7F8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30297" y="29900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530297" y="32095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two or more verified facts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530297" y="39044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REQUIRED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530297" y="41239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evidence for every entity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530297" y="48188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30297" y="50383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comparison until comparability checks pass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2498" y="2057400"/>
            <a:ext cx="1734769" cy="731520"/>
          </a:xfrm>
          <a:prstGeom prst="roundRect">
            <a:avLst>
              <a:gd name="adj" fmla="val 10000"/>
            </a:avLst>
          </a:prstGeom>
          <a:solidFill>
            <a:srgbClr val="2E8A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383938" y="2057400"/>
            <a:ext cx="15518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Synthesis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2498" y="2880360"/>
            <a:ext cx="1734769" cy="2926080"/>
          </a:xfrm>
          <a:prstGeom prst="roundRect">
            <a:avLst>
              <a:gd name="adj" fmla="val 4217"/>
            </a:avLst>
          </a:prstGeom>
          <a:solidFill>
            <a:srgbClr val="E7F8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02226" y="29900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402226" y="32095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derived across accepted facts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402226" y="39044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REQUIRED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402226" y="41239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underlying accepted evidence set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402226" y="48188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402226" y="50383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imply universal prevalence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64428" y="2057400"/>
            <a:ext cx="1734769" cy="731520"/>
          </a:xfrm>
          <a:prstGeom prst="roundRect">
            <a:avLst>
              <a:gd name="adj" fmla="val 10000"/>
            </a:avLst>
          </a:prstGeom>
          <a:solidFill>
            <a:srgbClr val="5FB8A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55868" y="2057400"/>
            <a:ext cx="15518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Interpretation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64428" y="2880360"/>
            <a:ext cx="1734769" cy="2926080"/>
          </a:xfrm>
          <a:prstGeom prst="roundRect">
            <a:avLst>
              <a:gd name="adj" fmla="val 4217"/>
            </a:avLst>
          </a:prstGeom>
          <a:solidFill>
            <a:srgbClr val="E7F8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274156" y="29900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274156" y="32095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Reasoned view of what a pattern may mean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274156" y="39044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REQUIRED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274156" y="41239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facts and synthesis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274156" y="48188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274156" y="50383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as interpretation, not fact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36357" y="2057400"/>
            <a:ext cx="1734769" cy="731520"/>
          </a:xfrm>
          <a:prstGeom prst="roundRect">
            <a:avLst>
              <a:gd name="adj" fmla="val 10000"/>
            </a:avLst>
          </a:prstGeom>
          <a:solidFill>
            <a:srgbClr val="8EDDD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127797" y="2057400"/>
            <a:ext cx="15518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Implication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36357" y="2880360"/>
            <a:ext cx="1734769" cy="2926080"/>
          </a:xfrm>
          <a:prstGeom prst="roundRect">
            <a:avLst>
              <a:gd name="adj" fmla="val 4217"/>
            </a:avLst>
          </a:prstGeom>
          <a:solidFill>
            <a:srgbClr val="E7F8F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146085" y="29900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146085" y="32095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relevance to the client's decision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146085" y="39044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REQUIRED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8146085" y="41239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analysis + client context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146085" y="48188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8146085" y="50383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 required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908286" y="2057400"/>
            <a:ext cx="1734769" cy="731520"/>
          </a:xfrm>
          <a:prstGeom prst="roundRect">
            <a:avLst>
              <a:gd name="adj" fmla="val 10000"/>
            </a:avLst>
          </a:prstGeom>
          <a:solidFill>
            <a:srgbClr val="A11249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999726" y="2057400"/>
            <a:ext cx="15518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908286" y="2880360"/>
            <a:ext cx="1734769" cy="2926080"/>
          </a:xfrm>
          <a:prstGeom prst="roundRect">
            <a:avLst>
              <a:gd name="adj" fmla="val 4217"/>
            </a:avLst>
          </a:prstGeom>
          <a:solidFill>
            <a:srgbClr val="FBEFF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018014" y="29900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10018014" y="32095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material point the AI could not verify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10018014" y="39044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REQUIRED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10018014" y="41239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log and gap record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10018014" y="4818888"/>
            <a:ext cx="15153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10018014" y="5038344"/>
            <a:ext cx="15153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evidence is not evidence of absence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59618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AI-generated items start as Pending Review and reach a deliverable only after approval. Research gaps stay Open and appear in the final report as limitations.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YOU CAN DEFEND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only shown when the evidence is comparable and coverage is sufficient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scale (0-4)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868680" cy="640080"/>
          </a:xfrm>
          <a:prstGeom prst="rect">
            <a:avLst/>
          </a:prstGeom>
          <a:solidFill>
            <a:srgbClr val="F7F8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5935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90472" y="3154680"/>
            <a:ext cx="868680" cy="1005840"/>
          </a:xfrm>
          <a:prstGeom prst="rect">
            <a:avLst/>
          </a:prstGeom>
          <a:solidFill>
            <a:srgbClr val="D1F1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90472" y="32278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44752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32304" y="2788920"/>
            <a:ext cx="868680" cy="1371600"/>
          </a:xfrm>
          <a:prstGeom prst="rect">
            <a:avLst/>
          </a:prstGeom>
          <a:solidFill>
            <a:srgbClr val="8EDDD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32304" y="28620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386584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74136" y="2423160"/>
            <a:ext cx="868680" cy="1737360"/>
          </a:xfrm>
          <a:prstGeom prst="rect">
            <a:avLst/>
          </a:prstGeom>
          <a:solidFill>
            <a:srgbClr val="05607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74136" y="24963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328416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15968" y="2057400"/>
            <a:ext cx="868680" cy="2103120"/>
          </a:xfrm>
          <a:prstGeom prst="rect">
            <a:avLst/>
          </a:prstGeom>
          <a:solidFill>
            <a:srgbClr val="0B2F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15968" y="21305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270248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2971800"/>
            <a:ext cx="868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A11249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349240" y="30449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BEFF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73659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is not 0. </a:t>
            </a:r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cell without reliable evidence is excluded from the score and reduces coverage. A 0 needs authoritative evidence that the practice is absent.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164592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comparability checks before any quantitative score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2057400"/>
            <a:ext cx="1139114" cy="548640"/>
          </a:xfrm>
          <a:prstGeom prst="roundRect">
            <a:avLst>
              <a:gd name="adj" fmla="val 13333"/>
            </a:avLst>
          </a:prstGeom>
          <a:solidFill>
            <a:srgbClr val="E7F8F6"/>
          </a:solidFill>
          <a:ln w="12700">
            <a:solidFill>
              <a:srgbClr val="0560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2057400"/>
            <a:ext cx="1139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buNone/>
            </a:pPr>
            <a:r>
              <a:rPr lang="en-US" sz="105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51394" y="2057400"/>
            <a:ext cx="1139114" cy="548640"/>
          </a:xfrm>
          <a:prstGeom prst="roundRect">
            <a:avLst>
              <a:gd name="adj" fmla="val 13333"/>
            </a:avLst>
          </a:prstGeom>
          <a:solidFill>
            <a:srgbClr val="E7F8F6"/>
          </a:solidFill>
          <a:ln w="12700">
            <a:solidFill>
              <a:srgbClr val="05607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1394" y="2057400"/>
            <a:ext cx="1139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buNone/>
            </a:pPr>
            <a:r>
              <a:rPr lang="en-US" sz="105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27668" y="2057400"/>
            <a:ext cx="1139114" cy="548640"/>
          </a:xfrm>
          <a:prstGeom prst="roundRect">
            <a:avLst>
              <a:gd name="adj" fmla="val 13333"/>
            </a:avLst>
          </a:prstGeom>
          <a:solidFill>
            <a:srgbClr val="E7F8F6"/>
          </a:solidFill>
          <a:ln w="12700">
            <a:solidFill>
              <a:srgbClr val="05607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27668" y="2057400"/>
            <a:ext cx="1139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buNone/>
            </a:pPr>
            <a:r>
              <a:rPr lang="en-US" sz="105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503941" y="2057400"/>
            <a:ext cx="1139114" cy="548640"/>
          </a:xfrm>
          <a:prstGeom prst="roundRect">
            <a:avLst>
              <a:gd name="adj" fmla="val 13333"/>
            </a:avLst>
          </a:prstGeom>
          <a:solidFill>
            <a:srgbClr val="E7F8F6"/>
          </a:solidFill>
          <a:ln w="12700">
            <a:solidFill>
              <a:srgbClr val="0560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03941" y="2057400"/>
            <a:ext cx="1139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buNone/>
            </a:pPr>
            <a:r>
              <a:rPr lang="en-US" sz="105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Denominator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2697480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that fail are shown, but not scored.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75120" y="3063240"/>
            <a:ext cx="4967935" cy="1234440"/>
          </a:xfrm>
          <a:prstGeom prst="roundRect">
            <a:avLst>
              <a:gd name="adj" fmla="val 5926"/>
            </a:avLst>
          </a:prstGeom>
          <a:solidFill>
            <a:srgbClr val="F7F8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0" y="3154680"/>
            <a:ext cx="4602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3456432"/>
            <a:ext cx="4602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= Σ(weight × normalised score) / Σ(weights of scored criteria)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= weighted mean of dimension scores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normalised to 0-1 (rating/4, checklist, min-max for quantitative)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448056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= scored cells / total cells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0" y="4892040"/>
            <a:ext cx="2980761" cy="384048"/>
          </a:xfrm>
          <a:prstGeom prst="rect">
            <a:avLst/>
          </a:prstGeom>
          <a:solidFill>
            <a:srgbClr val="EBEDEE"/>
          </a:solidFill>
          <a:ln/>
        </p:spPr>
      </p:sp>
      <p:sp>
        <p:nvSpPr>
          <p:cNvPr id="42" name="Shape 40"/>
          <p:cNvSpPr/>
          <p:nvPr/>
        </p:nvSpPr>
        <p:spPr>
          <a:xfrm>
            <a:off x="9655881" y="4892040"/>
            <a:ext cx="1987174" cy="384048"/>
          </a:xfrm>
          <a:prstGeom prst="rect">
            <a:avLst/>
          </a:prstGeom>
          <a:solidFill>
            <a:srgbClr val="D1F1E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766560" y="4892040"/>
            <a:ext cx="27978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coverage: no composite score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747321" y="4892040"/>
            <a:ext cx="1804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shown with coverage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655881" y="4782312"/>
            <a:ext cx="0" cy="603504"/>
          </a:xfrm>
          <a:prstGeom prst="line">
            <a:avLst/>
          </a:prstGeom>
          <a:noFill/>
          <a:ln w="31750">
            <a:solidFill>
              <a:srgbClr val="A1124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15801" y="54041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1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automated checks run before release, and any critical issue blocks sign-off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406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5394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checks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12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 or comparison with no linked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12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evidence that is not accepted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12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linked to a REJECT-category 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12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 contains unapproved 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12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 not reviewed by a human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0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Quantitative comparison without passed comparability checks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0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Accepted evidence missing publisher, title, date or URL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0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 question with no completed or gap-closed task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60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 or synthesis in a fact-only section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research gaps not disclosed as limitations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QA-11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2F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older than five years flagged as dated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1645920"/>
            <a:ext cx="3322015" cy="4297680"/>
          </a:xfrm>
          <a:prstGeom prst="roundRect">
            <a:avLst>
              <a:gd name="adj" fmla="val 2202"/>
            </a:avLst>
          </a:prstGeom>
          <a:solidFill>
            <a:srgbClr val="0B2F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95360" y="182880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logic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595360" y="233172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A1124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95360" y="2331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2295144"/>
            <a:ext cx="163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the Stage 6 gate until resolved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95360" y="320040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05607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95360" y="32004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784080" y="3163824"/>
            <a:ext cx="163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resolved or justified by the reviewer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406908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5FB8A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0" y="4069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784080" y="4032504"/>
            <a:ext cx="163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and disclosed where relevant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4846320"/>
            <a:ext cx="2773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D1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release also needs a QA Lead co-signature: whoever drafted or accepted content cannot be the sole approver.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"TRAINING" THE AI WITHOUT FINE-TUNING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encode the firm's method in layers the team can edit, and leave fine-tuning for later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863840" cy="530352"/>
          </a:xfrm>
          <a:prstGeom prst="roundRect">
            <a:avLst>
              <a:gd name="adj" fmla="val 13793"/>
            </a:avLst>
          </a:prstGeom>
          <a:solidFill>
            <a:srgbClr val="0B2F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/ Policy layer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6459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research, source, writing and QA rules as editable prompts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9424"/>
            <a:ext cx="7680960" cy="530352"/>
          </a:xfrm>
          <a:prstGeom prst="roundRect">
            <a:avLst>
              <a:gd name="adj" fmla="val 13793"/>
            </a:avLst>
          </a:prstGeom>
          <a:solidFill>
            <a:srgbClr val="0B2F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24942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architecture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24942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IDs, URLs, dates, page references, classification, verification 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52928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0B2F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8529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workflow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85292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revise / reject states for framework, evidence, content and output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456432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0560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4564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/ retrieval layer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45643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Methodology, approved benchmark examples, terminology, slide and sector standards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059936"/>
            <a:ext cx="7132320" cy="530352"/>
          </a:xfrm>
          <a:prstGeom prst="roundRect">
            <a:avLst>
              <a:gd name="adj" fmla="val 13793"/>
            </a:avLst>
          </a:prstGeom>
          <a:solidFill>
            <a:srgbClr val="8EDDD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40599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capture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405993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sources, framework edits, rewritten text, QA issues, final wording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" y="466344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8EDDD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88720" y="46634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46634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briefs with expected framework, evidence and content outcomes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97280" y="5266944"/>
            <a:ext cx="6766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5B6B7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1280160" y="52669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526694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Curated, human-corrected examples for narrow recurring behaviours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164592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78240" y="2057400"/>
            <a:ext cx="384048" cy="384048"/>
          </a:xfrm>
          <a:prstGeom prst="ellipse">
            <a:avLst/>
          </a:prstGeom>
          <a:solidFill>
            <a:srgbClr val="0B2F3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78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2057400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Essential: build first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778240" y="2624328"/>
            <a:ext cx="384048" cy="384048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782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2624328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78240" y="3191256"/>
            <a:ext cx="384048" cy="384048"/>
          </a:xfrm>
          <a:prstGeom prst="ellipse">
            <a:avLst/>
          </a:prstGeom>
          <a:solidFill>
            <a:srgbClr val="8EDDD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782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3191256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improves over time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778240" y="3758184"/>
            <a:ext cx="384048" cy="384048"/>
          </a:xfrm>
          <a:prstGeom prst="ellipse">
            <a:avLst/>
          </a:prstGeom>
          <a:solidFill>
            <a:srgbClr val="EBEDE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7824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326880" y="3758184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Optional, once controls mature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778240" y="4480560"/>
            <a:ext cx="2864815" cy="1417320"/>
          </a:xfrm>
          <a:prstGeom prst="roundRect">
            <a:avLst>
              <a:gd name="adj" fmla="val 5161"/>
            </a:avLst>
          </a:prstGeom>
          <a:solidFill>
            <a:srgbClr val="E7F8F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61120" y="4572000"/>
            <a:ext cx="24990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fine-tune first? </a:t>
            </a:r>
            <a:pPr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rules are auditable and change instantly without retraining. Fine-tuning only pays off once expert-corrected examples exist.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design choices turn AI speed into benchmarks a client can defend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E7F8F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6596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by design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links to an evidence ID, an archived snapshot and its source; references are generated from the repository.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169164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E7F8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2538" y="1965960"/>
            <a:ext cx="502920" cy="502920"/>
          </a:xfrm>
          <a:prstGeom prst="ellipse">
            <a:avLst/>
          </a:prstGeom>
          <a:solidFill>
            <a:srgbClr val="A112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253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98338" y="196596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gaps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2538" y="26060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is never scored as zero. Gaps need a logged search and are disclosed as limitations.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169164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E7F8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402117" y="1965960"/>
            <a:ext cx="502920" cy="50292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02117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87917" y="196596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own every gate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26060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gates with named owners, change control and segregation of duties at release.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7F8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411480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scoring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75488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Comparability checks, weighted scores and a coverage threshold before any composite score.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38218" y="384048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7F8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2538" y="4114800"/>
            <a:ext cx="502920" cy="50292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12538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98338" y="411480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method, encoded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12538" y="475488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Source Rules and Prompt Library carry Mushar's method; KSA official sources rank as P1.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27797" y="384048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7F8EB"/>
          </a:solidFill>
          <a:ln/>
        </p:spPr>
      </p:sp>
      <p:sp>
        <p:nvSpPr>
          <p:cNvPr id="32" name="Shape 30"/>
          <p:cNvSpPr/>
          <p:nvPr/>
        </p:nvSpPr>
        <p:spPr>
          <a:xfrm>
            <a:off x="8402117" y="4114800"/>
            <a:ext cx="502920" cy="50292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02117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87917" y="4114800"/>
            <a:ext cx="2326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experts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02117" y="475488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Rejections, edits and QA issues are captured and feed prompt improvement and quality KPIs.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MODULES (MVP BUILT)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 already covers the full engagement lifecycle in one workspace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Brief, scope, team and stage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260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workspace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and gate submission per stage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6459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663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Repository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EV-IDs, priority, snapshots, search 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reject / revise in one place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2697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D1F1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2608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Matrix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Scores, coverage and comparability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697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8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663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Rules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P1-P4 / REJECT policy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8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Library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Versioned, editable prompts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37490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D1F1E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9260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92608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rules; critical issues block release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7490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D1F1E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663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and Excel from approved content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8006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8E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/ KPIs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12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Acceptance, edits, gaps, cycle time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88920" y="48006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8E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92608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926080" y="5212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and decision recorded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4800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Claude via the Anthropic API, with a Demo mode that exercises the full workflow offline.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98080" y="1645920"/>
            <a:ext cx="4144975" cy="4069080"/>
          </a:xfrm>
          <a:prstGeom prst="roundRect">
            <a:avLst>
              <a:gd name="adj" fmla="val 1798"/>
            </a:avLst>
          </a:prstGeom>
          <a:solidFill>
            <a:srgbClr val="F4F6F6"/>
          </a:solidFill>
          <a:ln w="15875">
            <a:solidFill>
              <a:srgbClr val="5B6B70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7498080" y="187452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331470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insert product screenshots here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Stage workspace, Evidence Repository, Comparison Matrix)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VALUE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first drafts, full traceability and reusable IP, without giving up consultant judgment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0B2F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first draft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E7F8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880360"/>
            <a:ext cx="29666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structures the brief, proposes the framework, researches every comparator x question and drafts the deck, so consultants start from a reviewed draft, not a blank page.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2966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44568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spend time on judgment, not searching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see progress earlier at each gate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8218" y="16916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0560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2538" y="16916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traceability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338218" y="269748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E7F8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2538" y="2880360"/>
            <a:ext cx="29666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statement in the deliverable can be followed back to an evidence ID, an archived source and the reviewer who accepted it.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2538" y="4297680"/>
            <a:ext cx="2966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544568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challenges answered from the repository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disclosed openly instead of hidden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7797" y="1691640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0B2F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02117" y="16916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firm IP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127797" y="269748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E7F8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02117" y="2880360"/>
            <a:ext cx="296661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rules, prompts, approved evidence and expert corrections accumulate across engagements instead of leaving with each team.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4297680"/>
            <a:ext cx="2966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4544568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Mushar method on every study</a:t>
            </a:r>
            <a:endParaRPr lang="en-US" sz="11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foundation for evaluation and future tuning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will be measured during the pilot through the platform's own quality KPIs (evidence acceptance, draft edit distance, citation completeness, QA issues, cycle time per stage).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6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working MVP to an enterprise platform that other systems can embed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37178" cy="822960"/>
          </a:xfrm>
          <a:prstGeom prst="homePlate">
            <a:avLst/>
          </a:prstGeom>
          <a:solidFill>
            <a:srgbClr val="0560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545738" cy="3291840"/>
          </a:xfrm>
          <a:prstGeom prst="roundRect">
            <a:avLst>
              <a:gd name="adj" fmla="val 2222"/>
            </a:avLst>
          </a:prstGeom>
          <a:solidFill>
            <a:srgbClr val="E7F8F6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97180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056073"/>
          </a:solidFill>
          <a:ln w="12700">
            <a:solidFill>
              <a:srgbClr val="0560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71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74720"/>
            <a:ext cx="304281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Seven-stage workflow with gates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Repository, source rules, search log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Scoring, comparison matrix, 11 QA rules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/ Excel exports, KPIs, audit log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 for offline walkthroughs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7258" y="1737360"/>
            <a:ext cx="3637178" cy="822960"/>
          </a:xfrm>
          <a:prstGeom prst="chevron">
            <a:avLst/>
          </a:prstGeom>
          <a:solidFill>
            <a:srgbClr val="0B2F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80178" y="173736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readiness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77258" y="2788920"/>
            <a:ext cx="3545738" cy="3291840"/>
          </a:xfrm>
          <a:prstGeom prst="roundRect">
            <a:avLst>
              <a:gd name="adj" fmla="val 2222"/>
            </a:avLst>
          </a:prstGeom>
          <a:solidFill>
            <a:srgbClr val="F7F8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1578" y="297180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B2F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1578" y="2971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51578" y="3474720"/>
            <a:ext cx="304281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and role-based access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and surveys as evidence sources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user interface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 to embed in other platforms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PDPL, NCA ECC and in-Kingdom data residency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5877" y="1737360"/>
            <a:ext cx="3637178" cy="822960"/>
          </a:xfrm>
          <a:prstGeom prst="chevron">
            <a:avLst/>
          </a:prstGeom>
          <a:solidFill>
            <a:srgbClr val="5B6B7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8797" y="173736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05877" y="2788920"/>
            <a:ext cx="3545738" cy="3291840"/>
          </a:xfrm>
          <a:prstGeom prst="roundRect">
            <a:avLst>
              <a:gd name="adj" fmla="val 2222"/>
            </a:avLst>
          </a:prstGeom>
          <a:solidFill>
            <a:srgbClr val="F4F6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80197" y="297180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B6B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0197" y="2971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80197" y="3474720"/>
            <a:ext cx="304281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set of representative briefs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improvement driven by feedback capture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fine-tuning on curated, approved examples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ask: pilot the platform on one live engagement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Mushar Consulting  |  Evidence-Led AI Benchmarking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D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7864" cy="2331720"/>
          </a:xfrm>
          <a:prstGeom prst="roundRect">
            <a:avLst>
              <a:gd name="adj" fmla="val 3137"/>
            </a:avLst>
          </a:prstGeom>
          <a:solidFill>
            <a:srgbClr val="12414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1031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live benchmarking engagement, an engagement lead and a reviewer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53080" y="2990088"/>
            <a:ext cx="201168" cy="0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90824" y="1828800"/>
            <a:ext cx="2567864" cy="2331720"/>
          </a:xfrm>
          <a:prstGeom prst="roundRect">
            <a:avLst>
              <a:gd name="adj" fmla="val 3137"/>
            </a:avLst>
          </a:prstGeom>
          <a:solidFill>
            <a:srgbClr val="12414C"/>
          </a:solidFill>
          <a:ln/>
        </p:spPr>
      </p:sp>
      <p:sp>
        <p:nvSpPr>
          <p:cNvPr id="13" name="Shape 11"/>
          <p:cNvSpPr/>
          <p:nvPr/>
        </p:nvSpPr>
        <p:spPr>
          <a:xfrm>
            <a:off x="3665144" y="2103120"/>
            <a:ext cx="548640" cy="54864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6514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50944" y="21031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65144" y="288036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 Source Rules and the Prompt Library to the client and sector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95264" y="2990088"/>
            <a:ext cx="201168" cy="0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33008" y="1828800"/>
            <a:ext cx="2567864" cy="2331720"/>
          </a:xfrm>
          <a:prstGeom prst="roundRect">
            <a:avLst>
              <a:gd name="adj" fmla="val 3137"/>
            </a:avLst>
          </a:prstGeom>
          <a:solidFill>
            <a:srgbClr val="12414C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7328" y="2103120"/>
            <a:ext cx="548640" cy="548640"/>
          </a:xfrm>
          <a:prstGeom prst="ellipse">
            <a:avLst/>
          </a:prstGeom>
          <a:solidFill>
            <a:srgbClr val="0560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0732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93128" y="21031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288036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engagement end-to-end through all seven gates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37447" y="2990088"/>
            <a:ext cx="201168" cy="0"/>
          </a:xfrm>
          <a:prstGeom prst="line">
            <a:avLst/>
          </a:prstGeom>
          <a:noFill/>
          <a:ln w="19050">
            <a:solidFill>
              <a:srgbClr val="8EDDD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75191" y="1828800"/>
            <a:ext cx="2567864" cy="2331720"/>
          </a:xfrm>
          <a:prstGeom prst="roundRect">
            <a:avLst>
              <a:gd name="adj" fmla="val 3137"/>
            </a:avLst>
          </a:prstGeom>
          <a:solidFill>
            <a:srgbClr val="12414C"/>
          </a:solidFill>
          <a:ln/>
        </p:spPr>
      </p:sp>
      <p:sp>
        <p:nvSpPr>
          <p:cNvPr id="25" name="Shape 23"/>
          <p:cNvSpPr/>
          <p:nvPr/>
        </p:nvSpPr>
        <p:spPr>
          <a:xfrm>
            <a:off x="9349511" y="2103120"/>
            <a:ext cx="548640" cy="548640"/>
          </a:xfrm>
          <a:prstGeom prst="ellipse">
            <a:avLst/>
          </a:prstGeom>
          <a:solidFill>
            <a:srgbClr val="A1124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49511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035311" y="21031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349511" y="288036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1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quality KPIs and consultant feedback, then decide on scale-up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D1F1E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requested today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01091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Leadership: approve the pilot and nominate the engagement and team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Clients: co-design the pilot scope and agree how evidence and gates will be reviewed together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Evidence-Led AI Benchmarking</dc:title>
  <dc:subject>PptxGenJS Presentation</dc:subject>
  <dc:creator>Mushar Consulting</dc:creator>
  <cp:lastModifiedBy>Mushar Consulting</cp:lastModifiedBy>
  <cp:revision>1</cp:revision>
  <dcterms:created xsi:type="dcterms:W3CDTF">2026-09-28T12:16:47Z</dcterms:created>
  <dcterms:modified xsi:type="dcterms:W3CDTF">2026-09-28T12:16:47Z</dcterms:modified>
</cp:coreProperties>
</file>